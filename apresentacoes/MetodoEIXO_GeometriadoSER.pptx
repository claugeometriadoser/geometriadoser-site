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68" r:id="rId3"/>
    <p:sldId id="258" r:id="rId4"/>
    <p:sldId id="269" r:id="rId5"/>
    <p:sldId id="260" r:id="rId6"/>
    <p:sldId id="270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20"/>
    <p:restoredTop sz="94610"/>
  </p:normalViewPr>
  <p:slideViewPr>
    <p:cSldViewPr snapToGrid="0" snapToObjects="1">
      <p:cViewPr>
        <p:scale>
          <a:sx n="71" d="100"/>
          <a:sy n="71" d="100"/>
        </p:scale>
        <p:origin x="1424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92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2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20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3.png"/><Relationship Id="rId5" Type="http://schemas.openxmlformats.org/officeDocument/2006/relationships/image" Target="../media/image31.png"/><Relationship Id="rId10" Type="http://schemas.openxmlformats.org/officeDocument/2006/relationships/image" Target="../media/image22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">
            <a:extLst>
              <a:ext uri="{FF2B5EF4-FFF2-40B4-BE49-F238E27FC236}">
                <a16:creationId xmlns:a16="http://schemas.microsoft.com/office/drawing/2014/main" id="{67954F74-DD77-167E-59EE-0CCD4BBF525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00050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0" y="2857500"/>
                </a:moveTo>
                <a:lnTo>
                  <a:pt x="285750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D4AF37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456371" y="571500"/>
            <a:ext cx="441015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0" b="1" dirty="0">
                <a:solidFill>
                  <a:srgbClr val="FFFFFF">
                    <a:alpha val="3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45000" dirty="0"/>
          </a:p>
        </p:txBody>
      </p:sp>
      <p:sp>
        <p:nvSpPr>
          <p:cNvPr id="7" name="Shape 4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noFill/>
          <a:ln w="25400">
            <a:solidFill>
              <a:srgbClr val="4FC3F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-476402" y="3524098"/>
            <a:ext cx="2857500" cy="2857500"/>
          </a:xfrm>
          <a:prstGeom prst="ellipse">
            <a:avLst/>
          </a:prstGeom>
          <a:noFill/>
          <a:ln w="25400">
            <a:solidFill>
              <a:srgbClr val="D4AF3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952805" y="1349654"/>
            <a:ext cx="10458907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MÉTODO</a:t>
            </a:r>
            <a:endParaRPr lang="en-US" sz="7200" dirty="0"/>
          </a:p>
          <a:p>
            <a:pPr marL="0" indent="0" algn="l">
              <a:buNone/>
            </a:pPr>
            <a:r>
              <a:rPr lang="en-US" sz="7200" b="1" kern="0" spc="-150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</a:t>
            </a:r>
            <a:r>
              <a:rPr lang="en-US" sz="7200" b="1" kern="0" spc="-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®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952805" y="3685032"/>
            <a:ext cx="38405" cy="128564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1219810" y="3685032"/>
            <a:ext cx="7467905" cy="1286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estruturado para alinhamento organizacional e </a:t>
            </a:r>
            <a:r>
              <a:rPr lang="en-US" sz="2400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sustentação</a:t>
            </a:r>
            <a:r>
              <a:rPr lang="en-US" sz="24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dos </a:t>
            </a:r>
            <a:r>
              <a:rPr lang="en-US" sz="2400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</a:t>
            </a:r>
            <a:r>
              <a:rPr lang="en-US" sz="24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360" b="-360"/>
          <a:stretch/>
        </p:blipFill>
        <p:spPr>
          <a:xfrm>
            <a:off x="7781544" y="6165131"/>
            <a:ext cx="381305" cy="192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92541" y="6084206"/>
            <a:ext cx="1800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GEOMETRIA DO SER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952805" y="1025957"/>
            <a:ext cx="952805" cy="3840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296" b="296"/>
          <a:stretch/>
        </p:blipFill>
        <p:spPr>
          <a:xfrm>
            <a:off x="9867595" y="5339673"/>
            <a:ext cx="13716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">
            <a:extLst>
              <a:ext uri="{FF2B5EF4-FFF2-40B4-BE49-F238E27FC236}">
                <a16:creationId xmlns:a16="http://schemas.microsoft.com/office/drawing/2014/main" id="{AF877E6C-78B3-C5F8-6A18-574BF78DB0B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noFill/>
          <a:ln w="25400">
            <a:solidFill>
              <a:srgbClr val="4FC3F7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372162" y="5371071"/>
            <a:ext cx="2857500" cy="2857500"/>
          </a:xfrm>
          <a:prstGeom prst="ellipse">
            <a:avLst/>
          </a:prstGeom>
          <a:solidFill>
            <a:srgbClr val="D4AF37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96" b="296"/>
          <a:stretch/>
        </p:blipFill>
        <p:spPr>
          <a:xfrm>
            <a:off x="11129162" y="6879031"/>
            <a:ext cx="685800" cy="571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75741" y="347016"/>
            <a:ext cx="761695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75741" y="457659"/>
            <a:ext cx="10554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 da Execução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675741" y="1202667"/>
            <a:ext cx="86584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 definida não garante execução consistente. Mesmo em organizações maduras, é comum observar: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4" r="-24"/>
          <a:stretch/>
        </p:blipFill>
        <p:spPr>
          <a:xfrm>
            <a:off x="675740" y="2207589"/>
            <a:ext cx="9775393" cy="72797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341" y="2388641"/>
            <a:ext cx="287512" cy="28751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24051" y="2350236"/>
            <a:ext cx="6004452" cy="37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Fricções recorrentes entre áreas interdependentes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l="-24" r="-24"/>
          <a:stretch/>
        </p:blipFill>
        <p:spPr>
          <a:xfrm>
            <a:off x="675740" y="2976600"/>
            <a:ext cx="9775393" cy="727979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4341" y="3157651"/>
            <a:ext cx="287512" cy="287512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324051" y="3120161"/>
            <a:ext cx="5842144" cy="37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que não convergem e geram retrabalho</a:t>
            </a:r>
            <a:endParaRPr lang="en-US" sz="16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rcRect l="-24" r="-24"/>
          <a:stretch/>
        </p:blipFill>
        <p:spPr>
          <a:xfrm>
            <a:off x="675740" y="3746525"/>
            <a:ext cx="9775393" cy="727979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904341" y="3927576"/>
            <a:ext cx="359965" cy="287512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380744" y="3889171"/>
            <a:ext cx="6601205" cy="37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Papéis e responsabilidades pouco claros ou sobrepostos</a:t>
            </a:r>
            <a:endParaRPr lang="en-US" sz="16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rcRect l="-24" r="-24"/>
          <a:stretch/>
        </p:blipFill>
        <p:spPr>
          <a:xfrm>
            <a:off x="675740" y="4516449"/>
            <a:ext cx="9775393" cy="727979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904340" y="4697501"/>
            <a:ext cx="323163" cy="287512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1352397" y="4659096"/>
            <a:ext cx="6995799" cy="371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Iniciativas estratégicas que perdem força ao longo do tempo</a:t>
            </a:r>
            <a:endParaRPr lang="en-US" sz="1600" dirty="0"/>
          </a:p>
        </p:txBody>
      </p:sp>
      <p:sp>
        <p:nvSpPr>
          <p:cNvPr id="21" name="Shape 9"/>
          <p:cNvSpPr/>
          <p:nvPr/>
        </p:nvSpPr>
        <p:spPr>
          <a:xfrm>
            <a:off x="1845774" y="5754205"/>
            <a:ext cx="8715146" cy="771754"/>
          </a:xfrm>
          <a:prstGeom prst="roundRect">
            <a:avLst>
              <a:gd name="adj" fmla="val 35106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0"/>
          <p:cNvSpPr txBox="1"/>
          <p:nvPr/>
        </p:nvSpPr>
        <p:spPr>
          <a:xfrm>
            <a:off x="2079669" y="5939015"/>
            <a:ext cx="82396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75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Esses sinais indicam desalinhamentos estruturais.</a:t>
            </a:r>
            <a:endParaRPr lang="en-US" sz="1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61CE9305-B819-5EEA-6836-26F3DD29A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858707" y="-1429207"/>
            <a:ext cx="3810305" cy="3810305"/>
          </a:xfrm>
          <a:prstGeom prst="ellipse">
            <a:avLst/>
          </a:prstGeom>
          <a:solidFill>
            <a:srgbClr val="1E293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953305"/>
            <a:ext cx="2857500" cy="2857500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1500" y="476402"/>
            <a:ext cx="47549" cy="126644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57707" y="476402"/>
            <a:ext cx="109545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</a:t>
            </a:r>
            <a:r>
              <a:rPr lang="en-US" sz="3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Método </a:t>
            </a:r>
            <a:r>
              <a:rPr lang="en-US" sz="3100" b="1" kern="0" spc="75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EIXO®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1171346"/>
            <a:ext cx="98334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abordagem sistêmica organizada em quatro fases progressivas para garantir alinhamento e execução.</a:t>
            </a: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1047902" y="2885846"/>
            <a:ext cx="10096805" cy="192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19249"/>
            <a:ext cx="2619756" cy="3619195"/>
          </a:xfrm>
          <a:prstGeom prst="roundRect">
            <a:avLst>
              <a:gd name="adj" fmla="val 152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1637690" y="3467405"/>
            <a:ext cx="4956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C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4800" dirty="0">
              <a:solidFill>
                <a:srgbClr val="00DCEE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354226" y="4229559"/>
            <a:ext cx="1057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Examinar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4905" y="4624467"/>
            <a:ext cx="224042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Diagnóstico</a:t>
            </a:r>
            <a:r>
              <a:rPr lang="en-US" sz="1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 err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estruturado</a:t>
            </a:r>
            <a:r>
              <a:rPr lang="en-US" sz="1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identificar fricções e riscos estratégicos.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81451" y="2219249"/>
            <a:ext cx="2619756" cy="3619195"/>
          </a:xfrm>
          <a:prstGeom prst="roundRect">
            <a:avLst>
              <a:gd name="adj" fmla="val 152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4520794" y="3467405"/>
            <a:ext cx="3465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4187038" y="4229559"/>
            <a:ext cx="1010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84250" y="4687673"/>
            <a:ext cx="241415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Alinhamento de </a:t>
            </a:r>
            <a:r>
              <a:rPr lang="en-US" sz="1400" dirty="0" err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expectativas</a:t>
            </a:r>
            <a:r>
              <a:rPr lang="en-US" sz="1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convergência da liderança.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001354" y="2219249"/>
            <a:ext cx="2619756" cy="3619195"/>
          </a:xfrm>
          <a:prstGeom prst="roundRect">
            <a:avLst>
              <a:gd name="adj" fmla="val 152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10014509" y="3467405"/>
            <a:ext cx="6007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C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</a:t>
            </a:r>
            <a:endParaRPr lang="en-US" sz="4800" dirty="0">
              <a:solidFill>
                <a:srgbClr val="00DCEE"/>
              </a:solidFill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9389974" y="4229559"/>
            <a:ext cx="18480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Operacionalizar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210892" y="4686534"/>
            <a:ext cx="2205393" cy="500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Sustentação da execução e monitoramento contínuo.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3323844" y="2819095"/>
            <a:ext cx="95098" cy="152705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6133795" y="2819095"/>
            <a:ext cx="95098" cy="15270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500530" y="2514600"/>
            <a:ext cx="761695" cy="7616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729130" y="2743200"/>
            <a:ext cx="304495" cy="30449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310482" y="2514600"/>
            <a:ext cx="761695" cy="7616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4500677" y="2743200"/>
            <a:ext cx="381305" cy="304495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 l="-6" r="-6"/>
          <a:stretch/>
        </p:blipFill>
        <p:spPr>
          <a:xfrm>
            <a:off x="6125566" y="2128723"/>
            <a:ext cx="2750515" cy="380024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125566" y="2128723"/>
            <a:ext cx="2600554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2"/>
          <p:cNvSpPr txBox="1"/>
          <p:nvPr/>
        </p:nvSpPr>
        <p:spPr>
          <a:xfrm>
            <a:off x="7219188" y="3439058"/>
            <a:ext cx="571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4800" dirty="0"/>
          </a:p>
        </p:txBody>
      </p:sp>
      <p:sp>
        <p:nvSpPr>
          <p:cNvPr id="31" name="Text 23"/>
          <p:cNvSpPr txBox="1"/>
          <p:nvPr/>
        </p:nvSpPr>
        <p:spPr>
          <a:xfrm>
            <a:off x="6854342" y="4235960"/>
            <a:ext cx="1295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414515" y="4649156"/>
            <a:ext cx="2353873" cy="59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precisa do núcleo do desalinhamento estrutural.</a:t>
            </a:r>
            <a:endParaRPr lang="en-US" sz="14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rcRect l="-3192" r="-3192"/>
          <a:stretch/>
        </p:blipFill>
        <p:spPr>
          <a:xfrm>
            <a:off x="9005926" y="2758745"/>
            <a:ext cx="114300" cy="171907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01230" y="2438705"/>
            <a:ext cx="800100" cy="800100"/>
          </a:xfrm>
          <a:prstGeom prst="rect">
            <a:avLst/>
          </a:prstGeom>
        </p:spPr>
      </p:pic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30745" y="2669134"/>
            <a:ext cx="342900" cy="34290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9929470" y="2514600"/>
            <a:ext cx="761695" cy="76169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10120579" y="2743200"/>
            <a:ext cx="381305" cy="30449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571500" y="5982005"/>
            <a:ext cx="11048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7"/>
          <p:cNvSpPr txBox="1"/>
          <p:nvPr/>
        </p:nvSpPr>
        <p:spPr>
          <a:xfrm>
            <a:off x="10510114" y="6195974"/>
            <a:ext cx="1191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EIXO®</a:t>
            </a:r>
            <a:endParaRPr lang="en-US" sz="9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" y="6217006"/>
            <a:ext cx="133502" cy="133502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780898" y="6191402"/>
            <a:ext cx="5391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Nota: Cada fase possui escopo, entregáveis e critérios de sucesso definidos.</a:t>
            </a:r>
            <a:endParaRPr lang="en-US" sz="10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C4EFF260-497E-6295-6C15-A4719C869DBE}"/>
              </a:ext>
            </a:extLst>
          </p:cNvPr>
          <p:cNvSpPr/>
          <p:nvPr/>
        </p:nvSpPr>
        <p:spPr>
          <a:xfrm>
            <a:off x="1963217" y="2857500"/>
            <a:ext cx="838505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100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30AE457F-D657-9FC9-CDF1-DC3447DD5AB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">
            <a:extLst>
              <a:ext uri="{FF2B5EF4-FFF2-40B4-BE49-F238E27FC236}">
                <a16:creationId xmlns:a16="http://schemas.microsoft.com/office/drawing/2014/main" id="{936620AB-F0D5-49D0-6616-AFDA6564BBC9}"/>
              </a:ext>
            </a:extLst>
          </p:cNvPr>
          <p:cNvSpPr/>
          <p:nvPr/>
        </p:nvSpPr>
        <p:spPr>
          <a:xfrm>
            <a:off x="0" y="0"/>
            <a:ext cx="12191695" cy="6980844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4FC3F7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874813" y="255118"/>
            <a:ext cx="403890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0" b="1" dirty="0">
                <a:solidFill>
                  <a:srgbClr val="FFFFFF">
                    <a:alpha val="3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45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914400" y="457200"/>
            <a:ext cx="761695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685800"/>
            <a:ext cx="10554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Examinar</a:t>
            </a:r>
            <a:endParaRPr lang="en-US" sz="3600" dirty="0"/>
          </a:p>
        </p:txBody>
      </p:sp>
      <p:sp>
        <p:nvSpPr>
          <p:cNvPr id="11" name="Shape 6"/>
          <p:cNvSpPr/>
          <p:nvPr/>
        </p:nvSpPr>
        <p:spPr>
          <a:xfrm>
            <a:off x="914400" y="3379937"/>
            <a:ext cx="6267298" cy="437998"/>
          </a:xfrm>
          <a:prstGeom prst="roundRect">
            <a:avLst>
              <a:gd name="adj" fmla="val 544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8"/>
          <p:cNvSpPr txBox="1"/>
          <p:nvPr/>
        </p:nvSpPr>
        <p:spPr>
          <a:xfrm>
            <a:off x="1354172" y="3475034"/>
            <a:ext cx="32424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Briefing estratégico com liderança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14400" y="3924919"/>
            <a:ext cx="6267298" cy="437998"/>
          </a:xfrm>
          <a:prstGeom prst="roundRect">
            <a:avLst>
              <a:gd name="adj" fmla="val 544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 txBox="1"/>
          <p:nvPr/>
        </p:nvSpPr>
        <p:spPr>
          <a:xfrm>
            <a:off x="1354172" y="4020017"/>
            <a:ext cx="395935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Entrevistas estruturadas com áreas-chave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4400" y="4469901"/>
            <a:ext cx="6267298" cy="437998"/>
          </a:xfrm>
          <a:prstGeom prst="roundRect">
            <a:avLst>
              <a:gd name="adj" fmla="val 544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 txBox="1"/>
          <p:nvPr/>
        </p:nvSpPr>
        <p:spPr>
          <a:xfrm>
            <a:off x="1354172" y="4564999"/>
            <a:ext cx="34774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sistêmica de padrões críticos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14400" y="5014884"/>
            <a:ext cx="6267298" cy="437998"/>
          </a:xfrm>
          <a:prstGeom prst="roundRect">
            <a:avLst>
              <a:gd name="adj" fmla="val 544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 txBox="1"/>
          <p:nvPr/>
        </p:nvSpPr>
        <p:spPr>
          <a:xfrm>
            <a:off x="1354172" y="5109981"/>
            <a:ext cx="3499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de interfaces e lacunas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914400" y="5559866"/>
            <a:ext cx="6267298" cy="437998"/>
          </a:xfrm>
          <a:prstGeom prst="roundRect">
            <a:avLst>
              <a:gd name="adj" fmla="val 544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 txBox="1"/>
          <p:nvPr/>
        </p:nvSpPr>
        <p:spPr>
          <a:xfrm>
            <a:off x="1354172" y="5654964"/>
            <a:ext cx="39812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 executivo com priorização inicial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7556602" y="3265637"/>
            <a:ext cx="3720694" cy="2553005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26296" y="3560988"/>
            <a:ext cx="381305" cy="3813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06586" y="4132488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9226296" y="4503734"/>
            <a:ext cx="381305" cy="192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13548" y="4665583"/>
            <a:ext cx="321045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Clareza estruturada sobre onde a execução está sendo comprometida.</a:t>
            </a:r>
            <a:endParaRPr lang="en-US" sz="150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DEFB7234-3DB1-CE4B-C9EE-9C45A5542DF7}"/>
              </a:ext>
            </a:extLst>
          </p:cNvPr>
          <p:cNvSpPr/>
          <p:nvPr/>
        </p:nvSpPr>
        <p:spPr>
          <a:xfrm>
            <a:off x="865479" y="1481990"/>
            <a:ext cx="87783" cy="1010411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3D303FDA-2866-B92C-5C48-12942B9DBFF7}"/>
              </a:ext>
            </a:extLst>
          </p:cNvPr>
          <p:cNvSpPr txBox="1"/>
          <p:nvPr/>
        </p:nvSpPr>
        <p:spPr>
          <a:xfrm>
            <a:off x="1082177" y="1561795"/>
            <a:ext cx="789452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Leitura estruturada da organização para identificar desalinhamentos, fricções e riscos que impactam a execução estratégica.</a:t>
            </a:r>
            <a:endParaRPr lang="en-US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75A11C2E-1326-3F73-74D1-D8D9E975AC19}"/>
              </a:ext>
            </a:extLst>
          </p:cNvPr>
          <p:cNvSpPr txBox="1"/>
          <p:nvPr/>
        </p:nvSpPr>
        <p:spPr>
          <a:xfrm>
            <a:off x="914400" y="3036580"/>
            <a:ext cx="6515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ESTÁ INCLUÍDO</a:t>
            </a:r>
            <a:endParaRPr lang="en-US" sz="1000" dirty="0"/>
          </a:p>
        </p:txBody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5A8DEC2C-92E0-370B-900A-88F37311B2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5543" r="-35543"/>
          <a:stretch/>
        </p:blipFill>
        <p:spPr>
          <a:xfrm>
            <a:off x="927685" y="3453838"/>
            <a:ext cx="353675" cy="236255"/>
          </a:xfrm>
          <a:prstGeom prst="rect">
            <a:avLst/>
          </a:prstGeom>
        </p:spPr>
      </p:pic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D6FB283B-2454-7322-D0CD-E948CC0430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880" r="-9880"/>
          <a:stretch/>
        </p:blipFill>
        <p:spPr>
          <a:xfrm>
            <a:off x="922869" y="4008377"/>
            <a:ext cx="353675" cy="236255"/>
          </a:xfrm>
          <a:prstGeom prst="rect">
            <a:avLst/>
          </a:prstGeom>
        </p:spPr>
      </p:pic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72BEFCE3-0E16-CDB2-FCB0-FDEE446A768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9880" r="-9880"/>
          <a:stretch/>
        </p:blipFill>
        <p:spPr>
          <a:xfrm>
            <a:off x="922869" y="4547461"/>
            <a:ext cx="353675" cy="236255"/>
          </a:xfrm>
          <a:prstGeom prst="rect">
            <a:avLst/>
          </a:prstGeom>
        </p:spPr>
      </p:pic>
      <p:pic>
        <p:nvPicPr>
          <p:cNvPr id="39" name="Image 4" descr="preencoded.png">
            <a:extLst>
              <a:ext uri="{FF2B5EF4-FFF2-40B4-BE49-F238E27FC236}">
                <a16:creationId xmlns:a16="http://schemas.microsoft.com/office/drawing/2014/main" id="{F594117F-5250-85C4-DAEA-04C31313992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4850" r="-24850"/>
          <a:stretch/>
        </p:blipFill>
        <p:spPr>
          <a:xfrm>
            <a:off x="922869" y="5102045"/>
            <a:ext cx="353675" cy="236255"/>
          </a:xfrm>
          <a:prstGeom prst="rect">
            <a:avLst/>
          </a:prstGeom>
        </p:spPr>
      </p:pic>
      <p:pic>
        <p:nvPicPr>
          <p:cNvPr id="40" name="Image 5" descr="preencoded.png">
            <a:extLst>
              <a:ext uri="{FF2B5EF4-FFF2-40B4-BE49-F238E27FC236}">
                <a16:creationId xmlns:a16="http://schemas.microsoft.com/office/drawing/2014/main" id="{4D391DE8-E472-79E8-3D5D-D4658AA376F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9800" r="-49800"/>
          <a:stretch/>
        </p:blipFill>
        <p:spPr>
          <a:xfrm>
            <a:off x="922869" y="5635381"/>
            <a:ext cx="353675" cy="236255"/>
          </a:xfrm>
          <a:prstGeom prst="rect">
            <a:avLst/>
          </a:prstGeom>
        </p:spPr>
      </p:pic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08B0AE6F-3B42-E7C4-4ED7-3E84924258C4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  <p:sp>
        <p:nvSpPr>
          <p:cNvPr id="44" name="Shape 35">
            <a:extLst>
              <a:ext uri="{FF2B5EF4-FFF2-40B4-BE49-F238E27FC236}">
                <a16:creationId xmlns:a16="http://schemas.microsoft.com/office/drawing/2014/main" id="{293C5073-7155-1B98-038D-3B02610464F1}"/>
              </a:ext>
            </a:extLst>
          </p:cNvPr>
          <p:cNvSpPr/>
          <p:nvPr/>
        </p:nvSpPr>
        <p:spPr>
          <a:xfrm>
            <a:off x="11439982" y="6495897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CAFCE089-1FBE-4BC6-D035-3EA326CD1AEB}"/>
              </a:ext>
            </a:extLst>
          </p:cNvPr>
          <p:cNvSpPr/>
          <p:nvPr/>
        </p:nvSpPr>
        <p:spPr>
          <a:xfrm>
            <a:off x="11297259" y="6492416"/>
            <a:ext cx="75895" cy="758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7A7E03ED-C56C-7E4F-CB99-CECA38FAA1C0}"/>
              </a:ext>
            </a:extLst>
          </p:cNvPr>
          <p:cNvSpPr/>
          <p:nvPr/>
        </p:nvSpPr>
        <p:spPr>
          <a:xfrm>
            <a:off x="1158270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D7481EB7-06C1-2048-957D-106A815E6BCC}"/>
              </a:ext>
            </a:extLst>
          </p:cNvPr>
          <p:cNvSpPr/>
          <p:nvPr/>
        </p:nvSpPr>
        <p:spPr>
          <a:xfrm>
            <a:off x="117344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644177" y="-952805"/>
            <a:ext cx="3431743" cy="619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700" b="1" dirty="0">
                <a:solidFill>
                  <a:srgbClr val="1E293B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endParaRPr lang="en-US" sz="48700" dirty="0"/>
          </a:p>
        </p:txBody>
      </p:sp>
      <p:sp>
        <p:nvSpPr>
          <p:cNvPr id="9" name="Text 6"/>
          <p:cNvSpPr txBox="1"/>
          <p:nvPr/>
        </p:nvSpPr>
        <p:spPr>
          <a:xfrm>
            <a:off x="870858" y="2536956"/>
            <a:ext cx="6286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ESTÁ INCLUÍDO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0858" y="2899059"/>
            <a:ext cx="6714308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70858" y="2899059"/>
            <a:ext cx="28346" cy="437998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24850" r="-24850"/>
          <a:stretch/>
        </p:blipFill>
        <p:spPr>
          <a:xfrm>
            <a:off x="986492" y="3027637"/>
            <a:ext cx="340119" cy="22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2620" y="2899059"/>
            <a:ext cx="46333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das leituras obtidas no diagnóstico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70858" y="3479703"/>
            <a:ext cx="6714308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70858" y="3479703"/>
            <a:ext cx="28346" cy="437998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16534" r="-16534"/>
          <a:stretch/>
        </p:blipFill>
        <p:spPr>
          <a:xfrm>
            <a:off x="986492" y="3609196"/>
            <a:ext cx="340119" cy="22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2620" y="3479703"/>
            <a:ext cx="46333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das interfaces críticas entre áreas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70858" y="4061261"/>
            <a:ext cx="6714308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870858" y="4061261"/>
            <a:ext cx="28346" cy="437998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l="-16534" r="-16534"/>
          <a:stretch/>
        </p:blipFill>
        <p:spPr>
          <a:xfrm>
            <a:off x="986492" y="4189840"/>
            <a:ext cx="340119" cy="22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2619" y="4061261"/>
            <a:ext cx="60371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sucesso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marcos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KPIs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870858" y="4641905"/>
            <a:ext cx="6714306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870858" y="4641905"/>
            <a:ext cx="28346" cy="437998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24850" r="-24850"/>
          <a:stretch/>
        </p:blipFill>
        <p:spPr>
          <a:xfrm>
            <a:off x="986492" y="4770484"/>
            <a:ext cx="340119" cy="22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2620" y="4641905"/>
            <a:ext cx="520814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Alinhamento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prioridades estratégicas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870857" y="5223464"/>
            <a:ext cx="6714307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870858" y="5223464"/>
            <a:ext cx="28346" cy="437998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 l="-9880" r="-9880"/>
          <a:stretch/>
        </p:blipFill>
        <p:spPr>
          <a:xfrm>
            <a:off x="986492" y="5352042"/>
            <a:ext cx="340119" cy="2272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62619" y="5223464"/>
            <a:ext cx="4749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clara de responsabilidades-chave</a:t>
            </a:r>
            <a:endParaRPr lang="en-US" sz="1600" dirty="0"/>
          </a:p>
        </p:txBody>
      </p:sp>
      <p:sp>
        <p:nvSpPr>
          <p:cNvPr id="44" name="Shape 35"/>
          <p:cNvSpPr/>
          <p:nvPr/>
        </p:nvSpPr>
        <p:spPr>
          <a:xfrm>
            <a:off x="112772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36"/>
          <p:cNvSpPr/>
          <p:nvPr/>
        </p:nvSpPr>
        <p:spPr>
          <a:xfrm>
            <a:off x="11430000" y="6495898"/>
            <a:ext cx="75895" cy="758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37"/>
          <p:cNvSpPr/>
          <p:nvPr/>
        </p:nvSpPr>
        <p:spPr>
          <a:xfrm>
            <a:off x="1158270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38"/>
          <p:cNvSpPr/>
          <p:nvPr/>
        </p:nvSpPr>
        <p:spPr>
          <a:xfrm>
            <a:off x="117344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2" name="Image 1" descr="preencoded.png">
            <a:extLst>
              <a:ext uri="{FF2B5EF4-FFF2-40B4-BE49-F238E27FC236}">
                <a16:creationId xmlns:a16="http://schemas.microsoft.com/office/drawing/2014/main" id="{9CCC9169-036F-4A99-DBB3-8B5DF6AB96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20" b="-420"/>
          <a:stretch/>
        </p:blipFill>
        <p:spPr>
          <a:xfrm>
            <a:off x="870858" y="457200"/>
            <a:ext cx="761695" cy="38405"/>
          </a:xfrm>
          <a:prstGeom prst="rect">
            <a:avLst/>
          </a:prstGeom>
        </p:spPr>
      </p:pic>
      <p:sp>
        <p:nvSpPr>
          <p:cNvPr id="53" name="Text 3">
            <a:extLst>
              <a:ext uri="{FF2B5EF4-FFF2-40B4-BE49-F238E27FC236}">
                <a16:creationId xmlns:a16="http://schemas.microsoft.com/office/drawing/2014/main" id="{CC805EC6-AE6D-3655-9559-44D391C82093}"/>
              </a:ext>
            </a:extLst>
          </p:cNvPr>
          <p:cNvSpPr txBox="1"/>
          <p:nvPr/>
        </p:nvSpPr>
        <p:spPr>
          <a:xfrm>
            <a:off x="870858" y="685800"/>
            <a:ext cx="10554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Integrar</a:t>
            </a:r>
            <a:endParaRPr lang="en-US" sz="36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8D9E774D-6260-8E2F-690C-8FBC6DBE4C79}"/>
              </a:ext>
            </a:extLst>
          </p:cNvPr>
          <p:cNvSpPr txBox="1"/>
          <p:nvPr/>
        </p:nvSpPr>
        <p:spPr>
          <a:xfrm>
            <a:off x="1086307" y="1593056"/>
            <a:ext cx="86868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Alinhamento de </a:t>
            </a:r>
            <a:r>
              <a:rPr lang="en-US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expectativas</a:t>
            </a:r>
            <a:r>
              <a:rPr lang="en-US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convergência de liderança.</a:t>
            </a:r>
            <a:endParaRPr lang="en-US" dirty="0"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8420CE15-F777-D5CA-622E-A9145E2E04B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3" b="-3"/>
          <a:stretch/>
        </p:blipFill>
        <p:spPr>
          <a:xfrm>
            <a:off x="7890249" y="3237404"/>
            <a:ext cx="3720694" cy="2266798"/>
          </a:xfrm>
          <a:prstGeom prst="rect">
            <a:avLst/>
          </a:prstGeom>
        </p:spPr>
      </p:pic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7EF1EBFC-43EB-D327-40DD-5FDB5EEB2F1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24" b="-24"/>
          <a:stretch/>
        </p:blipFill>
        <p:spPr>
          <a:xfrm>
            <a:off x="9512394" y="3531841"/>
            <a:ext cx="476402" cy="381305"/>
          </a:xfrm>
          <a:prstGeom prst="rect">
            <a:avLst/>
          </a:prstGeom>
        </p:spPr>
      </p:pic>
      <p:sp>
        <p:nvSpPr>
          <p:cNvPr id="57" name="Text 21">
            <a:extLst>
              <a:ext uri="{FF2B5EF4-FFF2-40B4-BE49-F238E27FC236}">
                <a16:creationId xmlns:a16="http://schemas.microsoft.com/office/drawing/2014/main" id="{A0663E23-0314-97A4-88D5-BEB3D2AC9287}"/>
              </a:ext>
            </a:extLst>
          </p:cNvPr>
          <p:cNvSpPr txBox="1"/>
          <p:nvPr/>
        </p:nvSpPr>
        <p:spPr>
          <a:xfrm>
            <a:off x="9140233" y="4103341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200" dirty="0"/>
          </a:p>
        </p:txBody>
      </p:sp>
      <p:pic>
        <p:nvPicPr>
          <p:cNvPr id="58" name="Image 5" descr="preencoded.png">
            <a:extLst>
              <a:ext uri="{FF2B5EF4-FFF2-40B4-BE49-F238E27FC236}">
                <a16:creationId xmlns:a16="http://schemas.microsoft.com/office/drawing/2014/main" id="{CC69DD24-ED90-4B7B-36D9-F72032A54A8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360" b="-360"/>
          <a:stretch/>
        </p:blipFill>
        <p:spPr>
          <a:xfrm>
            <a:off x="9559943" y="4475502"/>
            <a:ext cx="381305" cy="19202"/>
          </a:xfrm>
          <a:prstGeom prst="rect">
            <a:avLst/>
          </a:prstGeom>
        </p:spPr>
      </p:pic>
      <p:sp>
        <p:nvSpPr>
          <p:cNvPr id="59" name="Text 22">
            <a:extLst>
              <a:ext uri="{FF2B5EF4-FFF2-40B4-BE49-F238E27FC236}">
                <a16:creationId xmlns:a16="http://schemas.microsoft.com/office/drawing/2014/main" id="{2F3B5D26-B69D-B432-AABD-FCDFCD956225}"/>
              </a:ext>
            </a:extLst>
          </p:cNvPr>
          <p:cNvSpPr txBox="1"/>
          <p:nvPr/>
        </p:nvSpPr>
        <p:spPr>
          <a:xfrm>
            <a:off x="8147195" y="4637350"/>
            <a:ext cx="32104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Convergência organizacional e direção comum.</a:t>
            </a:r>
            <a:endParaRPr lang="en-US" sz="1500" dirty="0"/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CD153BCC-E820-9086-C9FC-3FCE040A367F}"/>
              </a:ext>
            </a:extLst>
          </p:cNvPr>
          <p:cNvSpPr/>
          <p:nvPr/>
        </p:nvSpPr>
        <p:spPr>
          <a:xfrm flipH="1">
            <a:off x="869138" y="1562200"/>
            <a:ext cx="45719" cy="4665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1" name="Image 0" descr="preencoded.png">
            <a:extLst>
              <a:ext uri="{FF2B5EF4-FFF2-40B4-BE49-F238E27FC236}">
                <a16:creationId xmlns:a16="http://schemas.microsoft.com/office/drawing/2014/main" id="{D63EF8E3-F810-CB8B-CF96-773DCAC5D97E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  <p:sp>
        <p:nvSpPr>
          <p:cNvPr id="82" name="Shape 1">
            <a:extLst>
              <a:ext uri="{FF2B5EF4-FFF2-40B4-BE49-F238E27FC236}">
                <a16:creationId xmlns:a16="http://schemas.microsoft.com/office/drawing/2014/main" id="{5282BB5B-AAD9-7216-E512-143BA42BA67F}"/>
              </a:ext>
            </a:extLst>
          </p:cNvPr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4FC3F7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">
            <a:extLst>
              <a:ext uri="{FF2B5EF4-FFF2-40B4-BE49-F238E27FC236}">
                <a16:creationId xmlns:a16="http://schemas.microsoft.com/office/drawing/2014/main" id="{2859B814-FD08-CDD5-B666-8E3B681AE8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4FC3F7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503566" y="474574"/>
            <a:ext cx="441015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0" b="1" dirty="0">
                <a:solidFill>
                  <a:srgbClr val="FFFFFF">
                    <a:alpha val="3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45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914400" y="457200"/>
            <a:ext cx="761695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656539"/>
            <a:ext cx="10513771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Identificar o Núcleo do Desalinhamento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1094993" y="1746247"/>
            <a:ext cx="865113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ponto onde estratégia, estrutura, decisão e responsabilidade se cruzam. 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</a:t>
            </a:r>
            <a:r>
              <a:rPr lang="en-US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nessa fase que se define o foco central da intervenção.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2660" r="-2660"/>
          <a:stretch/>
        </p:blipFill>
        <p:spPr>
          <a:xfrm>
            <a:off x="914400" y="3125419"/>
            <a:ext cx="181051" cy="1719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90549" y="3082442"/>
            <a:ext cx="3543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X pode estar relacionado a: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7556602" y="3367735"/>
            <a:ext cx="3720694" cy="2553005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26296" y="3663086"/>
            <a:ext cx="381305" cy="3813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06586" y="4234586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 t="-360" b="-360"/>
          <a:stretch/>
        </p:blipFill>
        <p:spPr>
          <a:xfrm>
            <a:off x="9226296" y="4605833"/>
            <a:ext cx="381305" cy="192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13548" y="4768596"/>
            <a:ext cx="321045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objetiva do núcleo do desalinhamento que precisa ser realinhado.</a:t>
            </a:r>
            <a:endParaRPr lang="en-US" sz="15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425F93A1-62E6-0615-9935-B2C67ACCC40C}"/>
              </a:ext>
            </a:extLst>
          </p:cNvPr>
          <p:cNvSpPr/>
          <p:nvPr/>
        </p:nvSpPr>
        <p:spPr>
          <a:xfrm flipH="1">
            <a:off x="869137" y="1661600"/>
            <a:ext cx="45719" cy="776971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42194C9-3604-8406-5CD6-E9E54C2A7E09}"/>
              </a:ext>
            </a:extLst>
          </p:cNvPr>
          <p:cNvSpPr/>
          <p:nvPr/>
        </p:nvSpPr>
        <p:spPr>
          <a:xfrm>
            <a:off x="892325" y="3549303"/>
            <a:ext cx="6400800" cy="381305"/>
          </a:xfrm>
          <a:prstGeom prst="roundRect">
            <a:avLst>
              <a:gd name="adj" fmla="val 47962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A145CCA7-7246-BD45-1B93-DF129C5E9485}"/>
              </a:ext>
            </a:extLst>
          </p:cNvPr>
          <p:cNvSpPr/>
          <p:nvPr/>
        </p:nvSpPr>
        <p:spPr>
          <a:xfrm>
            <a:off x="892325" y="3549303"/>
            <a:ext cx="28346" cy="381305"/>
          </a:xfrm>
          <a:prstGeom prst="roundRect">
            <a:avLst>
              <a:gd name="adj" fmla="val 64517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767BEE6E-843D-E491-47F8-AAC2E3EE19E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4850" r="-24850"/>
          <a:stretch/>
        </p:blipFill>
        <p:spPr>
          <a:xfrm>
            <a:off x="1064231" y="3599435"/>
            <a:ext cx="456157" cy="304713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5D47DEC7-79BF-B001-6DA2-B588526EC516}"/>
              </a:ext>
            </a:extLst>
          </p:cNvPr>
          <p:cNvSpPr txBox="1"/>
          <p:nvPr/>
        </p:nvSpPr>
        <p:spPr>
          <a:xfrm>
            <a:off x="1651318" y="3590191"/>
            <a:ext cx="3592758" cy="3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Governança decisória</a:t>
            </a:r>
            <a:endParaRPr lang="en-US" sz="16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A4F595DB-4096-D0DE-E7B3-64BA5BB3B096}"/>
              </a:ext>
            </a:extLst>
          </p:cNvPr>
          <p:cNvSpPr/>
          <p:nvPr/>
        </p:nvSpPr>
        <p:spPr>
          <a:xfrm>
            <a:off x="892325" y="4044908"/>
            <a:ext cx="6400800" cy="381305"/>
          </a:xfrm>
          <a:prstGeom prst="roundRect">
            <a:avLst>
              <a:gd name="adj" fmla="val 47962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AF3353AE-0715-3DD1-3E73-978F311ACB6B}"/>
              </a:ext>
            </a:extLst>
          </p:cNvPr>
          <p:cNvSpPr/>
          <p:nvPr/>
        </p:nvSpPr>
        <p:spPr>
          <a:xfrm>
            <a:off x="892324" y="3980740"/>
            <a:ext cx="56563" cy="525150"/>
          </a:xfrm>
          <a:prstGeom prst="roundRect">
            <a:avLst>
              <a:gd name="adj" fmla="val 64517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2EC75120-30D6-FE73-44B5-CD77FA8417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6534" r="-16534"/>
          <a:stretch/>
        </p:blipFill>
        <p:spPr>
          <a:xfrm>
            <a:off x="1064231" y="4095040"/>
            <a:ext cx="456157" cy="304713"/>
          </a:xfrm>
          <a:prstGeom prst="rect">
            <a:avLst/>
          </a:prstGeom>
        </p:spPr>
      </p:pic>
      <p:sp>
        <p:nvSpPr>
          <p:cNvPr id="41" name="Text 12">
            <a:extLst>
              <a:ext uri="{FF2B5EF4-FFF2-40B4-BE49-F238E27FC236}">
                <a16:creationId xmlns:a16="http://schemas.microsoft.com/office/drawing/2014/main" id="{1F4F653D-17DB-1442-9C03-10A6FC1886DF}"/>
              </a:ext>
            </a:extLst>
          </p:cNvPr>
          <p:cNvSpPr txBox="1"/>
          <p:nvPr/>
        </p:nvSpPr>
        <p:spPr>
          <a:xfrm>
            <a:off x="1651318" y="4085796"/>
            <a:ext cx="4164099" cy="3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responsabilidades</a:t>
            </a:r>
            <a:endParaRPr lang="en-US" sz="16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350AC98C-3567-CB4B-3D52-CD119168BE5B}"/>
              </a:ext>
            </a:extLst>
          </p:cNvPr>
          <p:cNvSpPr/>
          <p:nvPr/>
        </p:nvSpPr>
        <p:spPr>
          <a:xfrm>
            <a:off x="892325" y="4539598"/>
            <a:ext cx="6400800" cy="381305"/>
          </a:xfrm>
          <a:prstGeom prst="roundRect">
            <a:avLst>
              <a:gd name="adj" fmla="val 47962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DB8FA6B8-FB9A-57CE-4C03-21F3EBECA1BF}"/>
              </a:ext>
            </a:extLst>
          </p:cNvPr>
          <p:cNvSpPr/>
          <p:nvPr/>
        </p:nvSpPr>
        <p:spPr>
          <a:xfrm>
            <a:off x="892324" y="4475430"/>
            <a:ext cx="56563" cy="525150"/>
          </a:xfrm>
          <a:prstGeom prst="roundRect">
            <a:avLst>
              <a:gd name="adj" fmla="val 64517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C37BB195-9BD4-CDB5-AE09-98CDE4C0817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9880" r="-9880"/>
          <a:stretch/>
        </p:blipFill>
        <p:spPr>
          <a:xfrm>
            <a:off x="1064231" y="4589730"/>
            <a:ext cx="456157" cy="304713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9D9F6E9B-CAC3-45ED-929D-66B759CDF1E5}"/>
              </a:ext>
            </a:extLst>
          </p:cNvPr>
          <p:cNvSpPr txBox="1"/>
          <p:nvPr/>
        </p:nvSpPr>
        <p:spPr>
          <a:xfrm>
            <a:off x="1651317" y="4580486"/>
            <a:ext cx="5015493" cy="3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Interfaces interdepartamentais</a:t>
            </a:r>
            <a:endParaRPr lang="en-US" sz="16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1B0949ED-D34C-7612-2A9D-E8766B4B89A2}"/>
              </a:ext>
            </a:extLst>
          </p:cNvPr>
          <p:cNvSpPr/>
          <p:nvPr/>
        </p:nvSpPr>
        <p:spPr>
          <a:xfrm>
            <a:off x="892325" y="5035203"/>
            <a:ext cx="6400800" cy="381305"/>
          </a:xfrm>
          <a:prstGeom prst="roundRect">
            <a:avLst>
              <a:gd name="adj" fmla="val 47962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893CAAE9-DA4D-636B-8522-7588206E868C}"/>
              </a:ext>
            </a:extLst>
          </p:cNvPr>
          <p:cNvSpPr/>
          <p:nvPr/>
        </p:nvSpPr>
        <p:spPr>
          <a:xfrm>
            <a:off x="892324" y="4971035"/>
            <a:ext cx="56563" cy="525150"/>
          </a:xfrm>
          <a:prstGeom prst="roundRect">
            <a:avLst>
              <a:gd name="adj" fmla="val 64517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D38344FE-6B44-D1AA-966B-AF632D6268B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4850" r="-24850"/>
          <a:stretch/>
        </p:blipFill>
        <p:spPr>
          <a:xfrm>
            <a:off x="1064231" y="5085335"/>
            <a:ext cx="456157" cy="304713"/>
          </a:xfrm>
          <a:prstGeom prst="rect">
            <a:avLst/>
          </a:prstGeom>
        </p:spPr>
      </p:pic>
      <p:sp>
        <p:nvSpPr>
          <p:cNvPr id="49" name="Text 18">
            <a:extLst>
              <a:ext uri="{FF2B5EF4-FFF2-40B4-BE49-F238E27FC236}">
                <a16:creationId xmlns:a16="http://schemas.microsoft.com/office/drawing/2014/main" id="{7439EB87-4530-0A91-C345-747DB7EE93F5}"/>
              </a:ext>
            </a:extLst>
          </p:cNvPr>
          <p:cNvSpPr txBox="1"/>
          <p:nvPr/>
        </p:nvSpPr>
        <p:spPr>
          <a:xfrm>
            <a:off x="1651318" y="5076091"/>
            <a:ext cx="4217286" cy="3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de priorização</a:t>
            </a:r>
            <a:endParaRPr lang="en-US" sz="160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EA6575D8-C2C3-FD58-9169-9A3D851025EA}"/>
              </a:ext>
            </a:extLst>
          </p:cNvPr>
          <p:cNvSpPr/>
          <p:nvPr/>
        </p:nvSpPr>
        <p:spPr>
          <a:xfrm>
            <a:off x="892325" y="5530808"/>
            <a:ext cx="6400800" cy="381305"/>
          </a:xfrm>
          <a:prstGeom prst="roundRect">
            <a:avLst>
              <a:gd name="adj" fmla="val 47962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FF364BE9-B8B3-575E-8D20-D9D0A3CEC1DE}"/>
              </a:ext>
            </a:extLst>
          </p:cNvPr>
          <p:cNvSpPr/>
          <p:nvPr/>
        </p:nvSpPr>
        <p:spPr>
          <a:xfrm>
            <a:off x="892324" y="5466640"/>
            <a:ext cx="56563" cy="525150"/>
          </a:xfrm>
          <a:prstGeom prst="roundRect">
            <a:avLst>
              <a:gd name="adj" fmla="val 64517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E89413F8-CCDC-E3D7-FD4E-80174571384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6534" r="-16534"/>
          <a:stretch/>
        </p:blipFill>
        <p:spPr>
          <a:xfrm>
            <a:off x="1064231" y="5580940"/>
            <a:ext cx="456157" cy="304713"/>
          </a:xfrm>
          <a:prstGeom prst="rect">
            <a:avLst/>
          </a:prstGeom>
        </p:spPr>
      </p:pic>
      <p:sp>
        <p:nvSpPr>
          <p:cNvPr id="53" name="Text 21">
            <a:extLst>
              <a:ext uri="{FF2B5EF4-FFF2-40B4-BE49-F238E27FC236}">
                <a16:creationId xmlns:a16="http://schemas.microsoft.com/office/drawing/2014/main" id="{0EADD599-7ACA-2A6C-FC16-58D2678DD51C}"/>
              </a:ext>
            </a:extLst>
          </p:cNvPr>
          <p:cNvSpPr txBox="1"/>
          <p:nvPr/>
        </p:nvSpPr>
        <p:spPr>
          <a:xfrm>
            <a:off x="1651318" y="5571696"/>
            <a:ext cx="4725506" cy="3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de tomada de decisão</a:t>
            </a:r>
            <a:endParaRPr lang="en-US" sz="1600" dirty="0"/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65A06AE4-2E89-0013-C429-8CB29DB985E4}"/>
              </a:ext>
            </a:extLst>
          </p:cNvPr>
          <p:cNvSpPr/>
          <p:nvPr/>
        </p:nvSpPr>
        <p:spPr>
          <a:xfrm>
            <a:off x="112772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C0B21FBC-F8AC-909C-3521-8171DE9A528E}"/>
              </a:ext>
            </a:extLst>
          </p:cNvPr>
          <p:cNvSpPr/>
          <p:nvPr/>
        </p:nvSpPr>
        <p:spPr>
          <a:xfrm>
            <a:off x="11430000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81233355-28DF-E6A1-F35F-96910284F59F}"/>
              </a:ext>
            </a:extLst>
          </p:cNvPr>
          <p:cNvSpPr/>
          <p:nvPr/>
        </p:nvSpPr>
        <p:spPr>
          <a:xfrm>
            <a:off x="11582705" y="6495898"/>
            <a:ext cx="75895" cy="758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C7A6345F-20A6-5C1D-AA14-D9BBC3209285}"/>
              </a:ext>
            </a:extLst>
          </p:cNvPr>
          <p:cNvSpPr/>
          <p:nvPr/>
        </p:nvSpPr>
        <p:spPr>
          <a:xfrm>
            <a:off x="117344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29F1F5FB-9C08-DADF-7E96-557EFACDB893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33">
            <a:extLst>
              <a:ext uri="{FF2B5EF4-FFF2-40B4-BE49-F238E27FC236}">
                <a16:creationId xmlns:a16="http://schemas.microsoft.com/office/drawing/2014/main" id="{692AC135-7EF3-496E-22EB-BC47C2C220F9}"/>
              </a:ext>
            </a:extLst>
          </p:cNvPr>
          <p:cNvSpPr/>
          <p:nvPr/>
        </p:nvSpPr>
        <p:spPr>
          <a:xfrm>
            <a:off x="11582247" y="6495896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18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703820" y="-1143000"/>
            <a:ext cx="5448910" cy="619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700" b="1" dirty="0">
                <a:solidFill>
                  <a:srgbClr val="1E293B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</a:t>
            </a:r>
            <a:endParaRPr lang="en-US" sz="48700" dirty="0"/>
          </a:p>
        </p:txBody>
      </p:sp>
      <p:sp>
        <p:nvSpPr>
          <p:cNvPr id="5" name="Shape 3"/>
          <p:cNvSpPr/>
          <p:nvPr/>
        </p:nvSpPr>
        <p:spPr>
          <a:xfrm>
            <a:off x="7391095" y="3010205"/>
            <a:ext cx="5753405" cy="5753405"/>
          </a:xfrm>
          <a:prstGeom prst="ellips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04342" y="1656893"/>
            <a:ext cx="38405" cy="66659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132942" y="1848003"/>
            <a:ext cx="58293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Sustentação da execução ao longo do tempo.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04342" y="2838298"/>
            <a:ext cx="6515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ESTÁ INCLUÍDO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4342" y="3333903"/>
            <a:ext cx="6400800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04342" y="3333903"/>
            <a:ext cx="28346" cy="437998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24850" r="-24850"/>
          <a:stretch/>
        </p:blipFill>
        <p:spPr>
          <a:xfrm>
            <a:off x="1060207" y="3412381"/>
            <a:ext cx="457488" cy="3056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42847" y="3333903"/>
            <a:ext cx="55339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Elaboração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Plano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Ação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04342" y="3942893"/>
            <a:ext cx="6400800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88300" y="3878724"/>
            <a:ext cx="56728" cy="847147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24850" r="-24850"/>
          <a:stretch/>
        </p:blipFill>
        <p:spPr>
          <a:xfrm>
            <a:off x="1060207" y="4022286"/>
            <a:ext cx="457488" cy="3056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42847" y="3942893"/>
            <a:ext cx="4611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sucesso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marcos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KPIs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04342" y="4552798"/>
            <a:ext cx="6400800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88300" y="4488629"/>
            <a:ext cx="56728" cy="847147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24850" r="-24850"/>
          <a:stretch/>
        </p:blipFill>
        <p:spPr>
          <a:xfrm>
            <a:off x="1060207" y="4631276"/>
            <a:ext cx="457488" cy="3056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42846" y="4552798"/>
            <a:ext cx="448048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estruturado</a:t>
            </a: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das </a:t>
            </a:r>
            <a:r>
              <a:rPr lang="en-US" sz="1600" dirty="0" err="1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ações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04342" y="5162703"/>
            <a:ext cx="6400800" cy="437998"/>
          </a:xfrm>
          <a:prstGeom prst="roundRect">
            <a:avLst>
              <a:gd name="adj" fmla="val 36307"/>
            </a:avLst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888300" y="5098534"/>
            <a:ext cx="56728" cy="847147"/>
          </a:xfrm>
          <a:prstGeom prst="roundRect">
            <a:avLst>
              <a:gd name="adj" fmla="val 56101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24850" r="-24850"/>
          <a:stretch/>
        </p:blipFill>
        <p:spPr>
          <a:xfrm>
            <a:off x="1060207" y="5241181"/>
            <a:ext cx="457488" cy="3056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42846" y="5162703"/>
            <a:ext cx="535318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Consolidação de aprendizados organizacionais</a:t>
            </a:r>
            <a:endParaRPr lang="en-US" sz="1600" dirty="0"/>
          </a:p>
        </p:txBody>
      </p:sp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778D1059-C082-0FF1-798A-A05D6EE4EE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420" b="-420"/>
          <a:stretch/>
        </p:blipFill>
        <p:spPr>
          <a:xfrm>
            <a:off x="914400" y="457200"/>
            <a:ext cx="761695" cy="38405"/>
          </a:xfrm>
          <a:prstGeom prst="rect">
            <a:avLst/>
          </a:prstGeom>
        </p:spPr>
      </p:pic>
      <p:sp>
        <p:nvSpPr>
          <p:cNvPr id="44" name="Text 3">
            <a:extLst>
              <a:ext uri="{FF2B5EF4-FFF2-40B4-BE49-F238E27FC236}">
                <a16:creationId xmlns:a16="http://schemas.microsoft.com/office/drawing/2014/main" id="{7211BBAF-4A8C-0BD6-3646-0D669FE38FC4}"/>
              </a:ext>
            </a:extLst>
          </p:cNvPr>
          <p:cNvSpPr txBox="1"/>
          <p:nvPr/>
        </p:nvSpPr>
        <p:spPr>
          <a:xfrm>
            <a:off x="914400" y="685800"/>
            <a:ext cx="10554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</a:t>
            </a: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Operacionalizar</a:t>
            </a:r>
            <a:endParaRPr lang="en-US" sz="3600" dirty="0"/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96BCE5E-1FF4-5B0D-F90C-3500ECE039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3" b="-3"/>
          <a:stretch/>
        </p:blipFill>
        <p:spPr>
          <a:xfrm>
            <a:off x="7556602" y="3493400"/>
            <a:ext cx="3720694" cy="2266798"/>
          </a:xfrm>
          <a:prstGeom prst="rect">
            <a:avLst/>
          </a:prstGeom>
        </p:spPr>
      </p:pic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EFB0F3D8-AE1E-31ED-7AFD-B2725E0637D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24" b="-24"/>
          <a:stretch/>
        </p:blipFill>
        <p:spPr>
          <a:xfrm>
            <a:off x="9178747" y="3788751"/>
            <a:ext cx="476402" cy="381305"/>
          </a:xfrm>
          <a:prstGeom prst="rect">
            <a:avLst/>
          </a:prstGeom>
        </p:spPr>
      </p:pic>
      <p:sp>
        <p:nvSpPr>
          <p:cNvPr id="47" name="Text 18">
            <a:extLst>
              <a:ext uri="{FF2B5EF4-FFF2-40B4-BE49-F238E27FC236}">
                <a16:creationId xmlns:a16="http://schemas.microsoft.com/office/drawing/2014/main" id="{274C9D75-717E-BFB9-4829-0CDED739B8E3}"/>
              </a:ext>
            </a:extLst>
          </p:cNvPr>
          <p:cNvSpPr txBox="1"/>
          <p:nvPr/>
        </p:nvSpPr>
        <p:spPr>
          <a:xfrm>
            <a:off x="8806586" y="4360251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200" dirty="0"/>
          </a:p>
        </p:txBody>
      </p:sp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34E341CA-EBE6-8310-9097-A4399DFE2AA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360" b="-360"/>
          <a:stretch/>
        </p:blipFill>
        <p:spPr>
          <a:xfrm>
            <a:off x="9226296" y="3745382"/>
            <a:ext cx="381305" cy="19202"/>
          </a:xfrm>
          <a:prstGeom prst="rect">
            <a:avLst/>
          </a:prstGeom>
        </p:spPr>
      </p:pic>
      <p:sp>
        <p:nvSpPr>
          <p:cNvPr id="49" name="Text 19">
            <a:extLst>
              <a:ext uri="{FF2B5EF4-FFF2-40B4-BE49-F238E27FC236}">
                <a16:creationId xmlns:a16="http://schemas.microsoft.com/office/drawing/2014/main" id="{63AC40E6-4122-A53F-6AD8-0F8491315821}"/>
              </a:ext>
            </a:extLst>
          </p:cNvPr>
          <p:cNvSpPr txBox="1"/>
          <p:nvPr/>
        </p:nvSpPr>
        <p:spPr>
          <a:xfrm>
            <a:off x="7813548" y="4893346"/>
            <a:ext cx="32104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consistente e sustentada.</a:t>
            </a:r>
            <a:endParaRPr lang="en-US" sz="1500" dirty="0"/>
          </a:p>
        </p:txBody>
      </p:sp>
      <p:sp>
        <p:nvSpPr>
          <p:cNvPr id="50" name="Shape 32">
            <a:extLst>
              <a:ext uri="{FF2B5EF4-FFF2-40B4-BE49-F238E27FC236}">
                <a16:creationId xmlns:a16="http://schemas.microsoft.com/office/drawing/2014/main" id="{FC5C0D37-0C04-B9E9-5E5A-F082806876BC}"/>
              </a:ext>
            </a:extLst>
          </p:cNvPr>
          <p:cNvSpPr/>
          <p:nvPr/>
        </p:nvSpPr>
        <p:spPr>
          <a:xfrm>
            <a:off x="112772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33">
            <a:extLst>
              <a:ext uri="{FF2B5EF4-FFF2-40B4-BE49-F238E27FC236}">
                <a16:creationId xmlns:a16="http://schemas.microsoft.com/office/drawing/2014/main" id="{49238951-794B-76DC-B930-CD7439E846C3}"/>
              </a:ext>
            </a:extLst>
          </p:cNvPr>
          <p:cNvSpPr/>
          <p:nvPr/>
        </p:nvSpPr>
        <p:spPr>
          <a:xfrm>
            <a:off x="11430000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4840A0C0-8F46-DECC-C7A0-3A5D10F5F513}"/>
              </a:ext>
            </a:extLst>
          </p:cNvPr>
          <p:cNvSpPr/>
          <p:nvPr/>
        </p:nvSpPr>
        <p:spPr>
          <a:xfrm>
            <a:off x="11734495" y="6495898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dirty="0">
              <a:solidFill>
                <a:schemeClr val="accent4"/>
              </a:solidFill>
            </a:endParaRPr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3723D301-1FB3-0A64-141E-EB9491095151}"/>
              </a:ext>
            </a:extLst>
          </p:cNvPr>
          <p:cNvSpPr/>
          <p:nvPr/>
        </p:nvSpPr>
        <p:spPr>
          <a:xfrm>
            <a:off x="11734494" y="6495897"/>
            <a:ext cx="75895" cy="758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33">
            <a:extLst>
              <a:ext uri="{FF2B5EF4-FFF2-40B4-BE49-F238E27FC236}">
                <a16:creationId xmlns:a16="http://schemas.microsoft.com/office/drawing/2014/main" id="{BA6A6AAC-98DC-B268-1A3C-1F927F5C69CC}"/>
              </a:ext>
            </a:extLst>
          </p:cNvPr>
          <p:cNvSpPr/>
          <p:nvPr/>
        </p:nvSpPr>
        <p:spPr>
          <a:xfrm>
            <a:off x="11582247" y="6495896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94ECB161-838B-797D-C8AD-CB18362F08C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alpha val="5301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EACA6645-7FE7-65A3-5464-EC55971937B2}"/>
              </a:ext>
            </a:extLst>
          </p:cNvPr>
          <p:cNvSpPr/>
          <p:nvPr/>
        </p:nvSpPr>
        <p:spPr>
          <a:xfrm>
            <a:off x="7801768" y="2205534"/>
            <a:ext cx="2991002" cy="1742846"/>
          </a:xfrm>
          <a:prstGeom prst="roundRect">
            <a:avLst>
              <a:gd name="adj" fmla="val 34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00DCE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1E293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2235708" y="381305"/>
            <a:ext cx="77248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 do Método </a:t>
            </a:r>
            <a:r>
              <a:rPr lang="en-US" sz="3100" b="1" kern="0" spc="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EIXO®</a:t>
            </a:r>
            <a:endParaRPr lang="en-US" sz="3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0" y="1123798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81658" y="2197303"/>
            <a:ext cx="2991002" cy="1742846"/>
          </a:xfrm>
          <a:prstGeom prst="roundRect">
            <a:avLst>
              <a:gd name="adj" fmla="val 34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3335731" y="3262579"/>
            <a:ext cx="101224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>
                    <a:alpha val="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1827124" y="3245206"/>
            <a:ext cx="1916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Clareza estrutural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04004" y="2197303"/>
            <a:ext cx="2991002" cy="1742846"/>
          </a:xfrm>
          <a:prstGeom prst="roundRect">
            <a:avLst>
              <a:gd name="adj" fmla="val 34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460236" y="3262579"/>
            <a:ext cx="106984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>
                    <a:alpha val="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5109667" y="3245206"/>
            <a:ext cx="20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Liderança alinhada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78010" y="3262579"/>
            <a:ext cx="106984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>
                    <a:alpha val="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7868443" y="3245206"/>
            <a:ext cx="28537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precisa do núcleo do desalinhamento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357323" y="4176979"/>
            <a:ext cx="3619195" cy="1742846"/>
          </a:xfrm>
          <a:prstGeom prst="roundRect">
            <a:avLst>
              <a:gd name="adj" fmla="val 34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4759452" y="5241341"/>
            <a:ext cx="116311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>
                    <a:alpha val="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000" dirty="0"/>
          </a:p>
        </p:txBody>
      </p:sp>
      <p:sp>
        <p:nvSpPr>
          <p:cNvPr id="19" name="Text 16"/>
          <p:cNvSpPr txBox="1"/>
          <p:nvPr/>
        </p:nvSpPr>
        <p:spPr>
          <a:xfrm>
            <a:off x="2543632" y="5287672"/>
            <a:ext cx="3226004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de fricções organizacionais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5177" y="4176979"/>
            <a:ext cx="3619195" cy="1742846"/>
          </a:xfrm>
          <a:prstGeom prst="roundRect">
            <a:avLst>
              <a:gd name="adj" fmla="val 34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8690458" y="5241341"/>
            <a:ext cx="108082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>
                    <a:alpha val="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6600139" y="5224882"/>
            <a:ext cx="2810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Sustentação da execução estratégica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14807" y="6019495"/>
            <a:ext cx="11163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Estruturado de Alinhamento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8550" y="2445106"/>
            <a:ext cx="609905" cy="6099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06624" y="2616098"/>
            <a:ext cx="333756" cy="26700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790895" y="2445106"/>
            <a:ext cx="609905" cy="6099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28970" y="2616098"/>
            <a:ext cx="333756" cy="26700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3862426" y="4424782"/>
            <a:ext cx="609905" cy="6099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33418" y="4595774"/>
            <a:ext cx="267005" cy="26700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720279" y="4424782"/>
            <a:ext cx="609905" cy="6099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91272" y="4595774"/>
            <a:ext cx="267005" cy="267005"/>
          </a:xfrm>
          <a:prstGeom prst="rect">
            <a:avLst/>
          </a:prstGeom>
        </p:spPr>
      </p:pic>
      <p:sp>
        <p:nvSpPr>
          <p:cNvPr id="34" name="Shape 11">
            <a:extLst>
              <a:ext uri="{FF2B5EF4-FFF2-40B4-BE49-F238E27FC236}">
                <a16:creationId xmlns:a16="http://schemas.microsoft.com/office/drawing/2014/main" id="{773B0B1E-6F07-0A30-D3A4-BC764CC5F1DD}"/>
              </a:ext>
            </a:extLst>
          </p:cNvPr>
          <p:cNvSpPr/>
          <p:nvPr/>
        </p:nvSpPr>
        <p:spPr>
          <a:xfrm>
            <a:off x="9006840" y="2426818"/>
            <a:ext cx="666598" cy="666598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B5503752-3675-9D67-A81E-AEAA3BC0B2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87891" y="2607869"/>
            <a:ext cx="304495" cy="304495"/>
          </a:xfrm>
          <a:prstGeom prst="rect">
            <a:avLst/>
          </a:prstGeom>
        </p:spPr>
      </p:pic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F82DC1A1-0440-1B46-9389-EB94C4791DB4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0"/>
          </a:blip>
          <a:srcRect t="296" b="296"/>
          <a:stretch/>
        </p:blipFill>
        <p:spPr>
          <a:xfrm>
            <a:off x="11260416" y="45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3193085" y="-381305"/>
            <a:ext cx="6001207" cy="7620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0" b="1" dirty="0">
                <a:solidFill>
                  <a:srgbClr val="1E293B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60000" dirty="0"/>
          </a:p>
        </p:txBody>
      </p:sp>
      <p:sp>
        <p:nvSpPr>
          <p:cNvPr id="8" name="Shape 6"/>
          <p:cNvSpPr/>
          <p:nvPr/>
        </p:nvSpPr>
        <p:spPr>
          <a:xfrm>
            <a:off x="381305" y="381305"/>
            <a:ext cx="1429207" cy="1920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81305" y="381305"/>
            <a:ext cx="19202" cy="1429207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382098" y="6457493"/>
            <a:ext cx="1429207" cy="1920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792102" y="5048402"/>
            <a:ext cx="19202" cy="1429207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4BF8CC0C-5C63-802A-1B6D-09A1027F76B8}"/>
              </a:ext>
            </a:extLst>
          </p:cNvPr>
          <p:cNvSpPr txBox="1"/>
          <p:nvPr/>
        </p:nvSpPr>
        <p:spPr>
          <a:xfrm>
            <a:off x="4865575" y="6257239"/>
            <a:ext cx="1924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25" dirty="0">
                <a:solidFill>
                  <a:srgbClr val="FFFF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GEOMETRIA DO SER</a:t>
            </a:r>
            <a:endParaRPr lang="en-US" sz="1000" dirty="0"/>
          </a:p>
        </p:txBody>
      </p:sp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0BF38395-B1B1-2FC7-A999-A4806776E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5634" y="999999"/>
            <a:ext cx="1904695" cy="1904695"/>
          </a:xfrm>
          <a:prstGeom prst="rect">
            <a:avLst/>
          </a:prstGeom>
        </p:spPr>
      </p:pic>
      <p:sp>
        <p:nvSpPr>
          <p:cNvPr id="40" name="Text 4">
            <a:extLst>
              <a:ext uri="{FF2B5EF4-FFF2-40B4-BE49-F238E27FC236}">
                <a16:creationId xmlns:a16="http://schemas.microsoft.com/office/drawing/2014/main" id="{ECEE88C7-E271-6084-49A9-C4C48BF67C6B}"/>
              </a:ext>
            </a:extLst>
          </p:cNvPr>
          <p:cNvSpPr txBox="1"/>
          <p:nvPr/>
        </p:nvSpPr>
        <p:spPr>
          <a:xfrm>
            <a:off x="3191309" y="2999792"/>
            <a:ext cx="55348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 </a:t>
            </a:r>
            <a:r>
              <a:rPr lang="en-US" sz="4800" b="1" kern="0" spc="15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EIXO®</a:t>
            </a:r>
            <a:endParaRPr lang="en-US" sz="48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6FF3A2CB-85DD-648A-610A-F587E6D9AA3A}"/>
              </a:ext>
            </a:extLst>
          </p:cNvPr>
          <p:cNvSpPr/>
          <p:nvPr/>
        </p:nvSpPr>
        <p:spPr>
          <a:xfrm>
            <a:off x="1815084" y="4885285"/>
            <a:ext cx="3666744" cy="476402"/>
          </a:xfrm>
          <a:prstGeom prst="roundRect">
            <a:avLst>
              <a:gd name="adj" fmla="val 1919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3" descr="preencoded.png">
            <a:extLst>
              <a:ext uri="{FF2B5EF4-FFF2-40B4-BE49-F238E27FC236}">
                <a16:creationId xmlns:a16="http://schemas.microsoft.com/office/drawing/2014/main" id="{A6346E4F-82EA-5D89-D97A-2C63D1E71B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52828" y="5028846"/>
            <a:ext cx="190195" cy="190195"/>
          </a:xfrm>
          <a:prstGeom prst="rect">
            <a:avLst/>
          </a:prstGeom>
        </p:spPr>
      </p:pic>
      <p:sp>
        <p:nvSpPr>
          <p:cNvPr id="43" name="Text 6">
            <a:extLst>
              <a:ext uri="{FF2B5EF4-FFF2-40B4-BE49-F238E27FC236}">
                <a16:creationId xmlns:a16="http://schemas.microsoft.com/office/drawing/2014/main" id="{E8D05913-93BE-7D27-2DD6-3F8431607A6E}"/>
              </a:ext>
            </a:extLst>
          </p:cNvPr>
          <p:cNvSpPr txBox="1"/>
          <p:nvPr/>
        </p:nvSpPr>
        <p:spPr>
          <a:xfrm>
            <a:off x="2319832" y="4885285"/>
            <a:ext cx="311627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claudiabarros@geometriadoser.com.br</a:t>
            </a:r>
            <a:endParaRPr lang="en-US" sz="12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606F4B88-DAD5-1735-EECE-A55F7B47315C}"/>
              </a:ext>
            </a:extLst>
          </p:cNvPr>
          <p:cNvSpPr/>
          <p:nvPr/>
        </p:nvSpPr>
        <p:spPr>
          <a:xfrm>
            <a:off x="5853989" y="4885285"/>
            <a:ext cx="2038198" cy="476402"/>
          </a:xfrm>
          <a:prstGeom prst="roundRect">
            <a:avLst>
              <a:gd name="adj" fmla="val 1919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6D7D5211-94E7-D56A-008B-CF4E821093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092647" y="5028846"/>
            <a:ext cx="171907" cy="190195"/>
          </a:xfrm>
          <a:prstGeom prst="rect">
            <a:avLst/>
          </a:prstGeom>
        </p:spPr>
      </p:pic>
      <p:sp>
        <p:nvSpPr>
          <p:cNvPr id="46" name="Text 8">
            <a:extLst>
              <a:ext uri="{FF2B5EF4-FFF2-40B4-BE49-F238E27FC236}">
                <a16:creationId xmlns:a16="http://schemas.microsoft.com/office/drawing/2014/main" id="{AA7EBF4B-F6B4-D2B1-B441-8CF9CA4A659F}"/>
              </a:ext>
            </a:extLst>
          </p:cNvPr>
          <p:cNvSpPr txBox="1"/>
          <p:nvPr/>
        </p:nvSpPr>
        <p:spPr>
          <a:xfrm>
            <a:off x="6349594" y="4885285"/>
            <a:ext cx="1334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in/claudiabarros/</a:t>
            </a:r>
            <a:endParaRPr lang="en-US" sz="1200" dirty="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F3443B4C-2687-0D61-9CFE-7435FA29394E}"/>
              </a:ext>
            </a:extLst>
          </p:cNvPr>
          <p:cNvSpPr/>
          <p:nvPr/>
        </p:nvSpPr>
        <p:spPr>
          <a:xfrm>
            <a:off x="8267090" y="4885285"/>
            <a:ext cx="2115007" cy="476402"/>
          </a:xfrm>
          <a:prstGeom prst="roundRect">
            <a:avLst>
              <a:gd name="adj" fmla="val 1919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7C754477-B44D-BE91-B982-8BBCE45430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504834" y="5028846"/>
            <a:ext cx="171907" cy="190195"/>
          </a:xfrm>
          <a:prstGeom prst="rect">
            <a:avLst/>
          </a:prstGeom>
        </p:spPr>
      </p:pic>
      <p:sp>
        <p:nvSpPr>
          <p:cNvPr id="49" name="Text 10">
            <a:extLst>
              <a:ext uri="{FF2B5EF4-FFF2-40B4-BE49-F238E27FC236}">
                <a16:creationId xmlns:a16="http://schemas.microsoft.com/office/drawing/2014/main" id="{BA0F2E0F-7A65-1D9C-4F2A-1898D0AE04C8}"/>
              </a:ext>
            </a:extLst>
          </p:cNvPr>
          <p:cNvSpPr txBox="1"/>
          <p:nvPr/>
        </p:nvSpPr>
        <p:spPr>
          <a:xfrm>
            <a:off x="8761781" y="4885285"/>
            <a:ext cx="14100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 11 98754-5477</a:t>
            </a:r>
            <a:endParaRPr lang="en-US" sz="1200" dirty="0"/>
          </a:p>
        </p:txBody>
      </p:sp>
      <p:pic>
        <p:nvPicPr>
          <p:cNvPr id="50" name="Image 6" descr="preencoded.png">
            <a:extLst>
              <a:ext uri="{FF2B5EF4-FFF2-40B4-BE49-F238E27FC236}">
                <a16:creationId xmlns:a16="http://schemas.microsoft.com/office/drawing/2014/main" id="{14805C7D-FEC7-E302-221A-01C9799FE2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" b="22"/>
          <a:stretch/>
        </p:blipFill>
        <p:spPr>
          <a:xfrm>
            <a:off x="5032911" y="1286206"/>
            <a:ext cx="1591056" cy="1333195"/>
          </a:xfrm>
          <a:prstGeom prst="rect">
            <a:avLst/>
          </a:prstGeom>
        </p:spPr>
      </p:pic>
      <p:sp>
        <p:nvSpPr>
          <p:cNvPr id="51" name="Text 11">
            <a:extLst>
              <a:ext uri="{FF2B5EF4-FFF2-40B4-BE49-F238E27FC236}">
                <a16:creationId xmlns:a16="http://schemas.microsoft.com/office/drawing/2014/main" id="{FD64C1F8-3D67-3686-A6A9-158EB1DF6A81}"/>
              </a:ext>
            </a:extLst>
          </p:cNvPr>
          <p:cNvSpPr txBox="1"/>
          <p:nvPr/>
        </p:nvSpPr>
        <p:spPr>
          <a:xfrm>
            <a:off x="3080667" y="4009290"/>
            <a:ext cx="5753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75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Alinhamento </a:t>
            </a:r>
            <a:r>
              <a:rPr lang="en-US" sz="2100" kern="0" spc="75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2100" kern="0" spc="75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100" kern="0" spc="75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sustenta</a:t>
            </a:r>
            <a:r>
              <a:rPr lang="en-US" sz="2100" kern="0" spc="75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100" kern="0" spc="75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</a:t>
            </a:r>
            <a:r>
              <a:rPr lang="en-US" sz="2100" kern="0" spc="75" dirty="0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100" kern="0" spc="75" dirty="0" err="1">
                <a:solidFill>
                  <a:srgbClr val="B0BEC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</a:t>
            </a:r>
            <a:endParaRPr lang="en-US" sz="2100" dirty="0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8AD6F55B-81DB-7E2C-0FA0-5F04C7EB840E}"/>
              </a:ext>
            </a:extLst>
          </p:cNvPr>
          <p:cNvSpPr/>
          <p:nvPr/>
        </p:nvSpPr>
        <p:spPr>
          <a:xfrm>
            <a:off x="5766098" y="4409797"/>
            <a:ext cx="1086037" cy="48463"/>
          </a:xfrm>
          <a:prstGeom prst="rect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5598</TotalTime>
  <Words>440</Words>
  <Application>Microsoft Macintosh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Cláudia Barros</cp:lastModifiedBy>
  <cp:revision>9</cp:revision>
  <dcterms:created xsi:type="dcterms:W3CDTF">2026-03-02T22:25:29Z</dcterms:created>
  <dcterms:modified xsi:type="dcterms:W3CDTF">2026-03-09T12:35:09Z</dcterms:modified>
</cp:coreProperties>
</file>